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7698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49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852160" cy="5852160"/>
          </a:xfrm>
          <a:prstGeom prst="ellipse">
            <a:avLst/>
          </a:prstGeom>
          <a:solidFill>
            <a:srgbClr val="073E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241280" y="3291840"/>
            <a:ext cx="4206240" cy="4206240"/>
          </a:xfrm>
          <a:prstGeom prst="ellipse">
            <a:avLst/>
          </a:prstGeom>
          <a:solidFill>
            <a:srgbClr val="0A565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64008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4C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MILLENIUM TECNOLOGIA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de Atendimento com IA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3200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D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 proativo e guiado, apoiado por IA — Prova de Conceito (Fase 1)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85800" y="3886200"/>
            <a:ext cx="2011680" cy="0"/>
          </a:xfrm>
          <a:prstGeom prst="line">
            <a:avLst/>
          </a:prstGeom>
          <a:noFill/>
          <a:ln w="31750">
            <a:solidFill>
              <a:srgbClr val="24C6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658368" y="4114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FD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para Diretoria · Atendentes · Tecnologia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B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Iniciativa “Comunicação que Conecta” · Descomplique a gestão — reduza custos e aumente a eficiência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 é e o que vamos ver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0972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Millenium Tecnologia — EPP de ponto e controle de acesso (software Secullum), Campo Bom/RS, desde 2005.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3429000" cy="1783080"/>
          </a:xfrm>
          <a:prstGeom prst="roundRect">
            <a:avLst>
              <a:gd name="adj" fmla="val 4615"/>
            </a:avLst>
          </a:prstGeom>
          <a:solidFill>
            <a:srgbClr val="E9F4F2"/>
          </a:solidFill>
          <a:ln/>
          <a:effectLst>
            <a:outerShdw blurRad="76200" dist="25400" dir="5400000" algn="bl" rotWithShape="0">
              <a:srgbClr val="9BB0AE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896112" y="1874520"/>
            <a:ext cx="502920" cy="502920"/>
          </a:xfrm>
          <a:prstGeom prst="ellipse">
            <a:avLst/>
          </a:prstGeom>
          <a:solidFill>
            <a:srgbClr val="007B7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896112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19019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Diretoria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48716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é, o valor para o negócio, privacidade/LGPD e as decisões pendentes.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1645920"/>
            <a:ext cx="3429000" cy="1783080"/>
          </a:xfrm>
          <a:prstGeom prst="roundRect">
            <a:avLst>
              <a:gd name="adj" fmla="val 4615"/>
            </a:avLst>
          </a:prstGeom>
          <a:solidFill>
            <a:srgbClr val="E9F4F2"/>
          </a:solidFill>
          <a:ln/>
          <a:effectLst>
            <a:outerShdw blurRad="76200" dist="25400" dir="5400000" algn="bl" rotWithShape="0">
              <a:srgbClr val="9BB0AE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599432" y="1874520"/>
            <a:ext cx="502920" cy="502920"/>
          </a:xfrm>
          <a:prstGeom prst="ellipse">
            <a:avLst/>
          </a:prstGeom>
          <a:solidFill>
            <a:srgbClr val="00A3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4599432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257800" y="19019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Atendentes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599432" y="248716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será a operação no dia a dia e o que cada agente entrega.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46720" y="1645920"/>
            <a:ext cx="3429000" cy="1783080"/>
          </a:xfrm>
          <a:prstGeom prst="roundRect">
            <a:avLst>
              <a:gd name="adj" fmla="val 4615"/>
            </a:avLst>
          </a:prstGeom>
          <a:solidFill>
            <a:srgbClr val="E9F4F2"/>
          </a:solidFill>
          <a:ln/>
          <a:effectLst>
            <a:outerShdw blurRad="76200" dist="25400" dir="5400000" algn="bl" rotWithShape="0">
              <a:srgbClr val="9BB0AE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8302752" y="1874520"/>
            <a:ext cx="502920" cy="502920"/>
          </a:xfrm>
          <a:prstGeom prst="ellipse">
            <a:avLst/>
          </a:prstGeom>
          <a:solidFill>
            <a:srgbClr val="24C6A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8302752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0" y="19019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302752" y="248716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Arquitetura, fluxo de processamento e o caminho até a Fase 2.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3703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114800"/>
            <a:ext cx="10607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Negócio: o problema, a operação, privacidade e governança (LGPD)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Tecnologia: arquitetura hexagonal, fluxo de dados e as 11 ferramentas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e cronograma: pontos fortes e fracos de cada fase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ainda falta e os próximos passos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SUMÁRIO EXECUTIVO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em uma página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554480"/>
            <a:ext cx="6583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assistente de IA que ajuda o atendente a contatar o cliente certo, na hora certa, com o tom certo.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monta uma fila priorizada de quem contatar e redige rascunhos — o atendente revisa e envia.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é uma Prova de Conceito local, com dados fictícios, sem banco de dados e sem exposição de rede.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núcleo foi desenhado para ser reaproveitado na Fase 2 (dados ao vivo), trocando só o ‘encaixe’ de dados.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543800" y="1508760"/>
            <a:ext cx="3977640" cy="1024128"/>
          </a:xfrm>
          <a:prstGeom prst="roundRect">
            <a:avLst>
              <a:gd name="adj" fmla="val 8036"/>
            </a:avLst>
          </a:prstGeom>
          <a:solidFill>
            <a:srgbClr val="E9F4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7680960" y="1527048"/>
            <a:ext cx="1371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7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8961120" y="1527048"/>
            <a:ext cx="2468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de IA: </a:t>
            </a:r>
            <a:r>
              <a:rPr lang="en-US" sz="1250" dirty="0" err="1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Preventivo</a:t>
            </a:r>
            <a:r>
              <a:rPr lang="en-US" sz="125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Pós-NPS e </a:t>
            </a:r>
            <a:r>
              <a:rPr lang="en-US" sz="1250" dirty="0" err="1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</a:t>
            </a:r>
            <a:r>
              <a:rPr lang="en-US" sz="125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543800" y="2679192"/>
            <a:ext cx="3977640" cy="1024128"/>
          </a:xfrm>
          <a:prstGeom prst="roundRect">
            <a:avLst>
              <a:gd name="adj" fmla="val 8036"/>
            </a:avLst>
          </a:prstGeom>
          <a:solidFill>
            <a:srgbClr val="E9F4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7680960" y="2697480"/>
            <a:ext cx="1371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7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8961120" y="2697480"/>
            <a:ext cx="2468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(tools) no servidor MCP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543800" y="3849624"/>
            <a:ext cx="3977640" cy="1024128"/>
          </a:xfrm>
          <a:prstGeom prst="roundRect">
            <a:avLst>
              <a:gd name="adj" fmla="val 8036"/>
            </a:avLst>
          </a:prstGeom>
          <a:solidFill>
            <a:srgbClr val="E9F4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7680960" y="3867912"/>
            <a:ext cx="1371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7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3867912"/>
            <a:ext cx="2468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planilhas viram um só Cliente 360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543800" y="5020056"/>
            <a:ext cx="3977640" cy="1024128"/>
          </a:xfrm>
          <a:prstGeom prst="roundRect">
            <a:avLst>
              <a:gd name="adj" fmla="val 8036"/>
            </a:avLst>
          </a:prstGeom>
          <a:solidFill>
            <a:srgbClr val="E9F4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7680960" y="5038344"/>
            <a:ext cx="1371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7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8961120" y="5038344"/>
            <a:ext cx="2468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envios revisados por um humano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FAZER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e o objetivo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394960" cy="3063240"/>
          </a:xfrm>
          <a:prstGeom prst="roundRect">
            <a:avLst>
              <a:gd name="adj" fmla="val 2687"/>
            </a:avLst>
          </a:prstGeom>
          <a:solidFill>
            <a:srgbClr val="F7ECD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914400" y="1737360"/>
            <a:ext cx="502920" cy="502920"/>
          </a:xfrm>
          <a:prstGeom prst="ellipse">
            <a:avLst/>
          </a:prstGeom>
          <a:solidFill>
            <a:srgbClr val="B970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91440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76479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hoje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28600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uma diretriz definida: cada colaborador atende do seu jeito.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contato ocorre só sob demanda — sem acompanhar necessidade e satisfação.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divergências de abordagem, ruídos e retrabalho.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priorização: quem contatar primeiro, e por quê?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508760"/>
            <a:ext cx="5349240" cy="3063240"/>
          </a:xfrm>
          <a:prstGeom prst="roundRect">
            <a:avLst>
              <a:gd name="adj" fmla="val 2687"/>
            </a:avLst>
          </a:prstGeom>
          <a:solidFill>
            <a:srgbClr val="E1F3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6446520" y="1737360"/>
            <a:ext cx="502920" cy="502920"/>
          </a:xfrm>
          <a:prstGeom prst="ellipse">
            <a:avLst/>
          </a:prstGeom>
          <a:solidFill>
            <a:srgbClr val="007B7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64465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176479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objetivo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28600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Estruturar um atendimento proativo e guiado para os atendentes.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Aumentar retenção, fidelização e o valor do cliente ao longo do tempo (LTV).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Descobrir problemas não reportados antes que virem cancelamento.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Padronizar o tom (empatia, escuta ativa, CNV) a partir de uma wiki única.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754880"/>
            <a:ext cx="10881360" cy="1188720"/>
          </a:xfrm>
          <a:prstGeom prst="roundRect">
            <a:avLst>
              <a:gd name="adj" fmla="val 6923"/>
            </a:avLst>
          </a:prstGeom>
          <a:solidFill>
            <a:srgbClr val="007B7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914400" y="475488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66%</a:t>
            </a:r>
            <a:r>
              <a:rPr lang="en-US" sz="1600" dirty="0">
                <a:solidFill>
                  <a:srgbClr val="EA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dos consumidores trocariam de fornecedor se a comunicação não atender às expectativas.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9052560" y="47548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BF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Communications, 2024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ENQUADRAMENTO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de algo maior: “Comunicação que Conecta”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0241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extensão multidisciplinar — a tecnologia apoia o humano, não o substitui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429000" cy="2240280"/>
          </a:xfrm>
          <a:prstGeom prst="roundRect">
            <a:avLst>
              <a:gd name="adj" fmla="val 3673"/>
            </a:avLst>
          </a:prstGeom>
          <a:solidFill>
            <a:srgbClr val="F4FAF9"/>
          </a:solidFill>
          <a:ln w="12700">
            <a:solidFill>
              <a:srgbClr val="D7E5E2"/>
            </a:solidFill>
            <a:prstDash val="solid"/>
          </a:ln>
          <a:effectLst>
            <a:outerShdw blurRad="76200" dist="25400" dir="5400000" algn="bl" rotWithShape="0">
              <a:srgbClr val="9BB0AE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868680" y="20116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Administração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4320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pessoas e cultura de atendimento com empatia e colaboração.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783080"/>
            <a:ext cx="3429000" cy="2240280"/>
          </a:xfrm>
          <a:prstGeom prst="roundRect">
            <a:avLst>
              <a:gd name="adj" fmla="val 3673"/>
            </a:avLst>
          </a:prstGeom>
          <a:solidFill>
            <a:srgbClr val="F4FAF9"/>
          </a:solidFill>
          <a:ln w="12700">
            <a:solidFill>
              <a:srgbClr val="D7E5E2"/>
            </a:solidFill>
            <a:prstDash val="solid"/>
          </a:ln>
          <a:effectLst>
            <a:outerShdw blurRad="76200" dist="25400" dir="5400000" algn="bl" rotWithShape="0">
              <a:srgbClr val="9BB0AE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4572000" y="20116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Informação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74320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 tarefas repetitivas e organiza os dados do cliente — o agente de IA.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46720" y="1783080"/>
            <a:ext cx="3429000" cy="2240280"/>
          </a:xfrm>
          <a:prstGeom prst="roundRect">
            <a:avLst>
              <a:gd name="adj" fmla="val 3673"/>
            </a:avLst>
          </a:prstGeom>
          <a:solidFill>
            <a:srgbClr val="F4FAF9"/>
          </a:solidFill>
          <a:ln w="12700">
            <a:solidFill>
              <a:srgbClr val="D7E5E2"/>
            </a:solidFill>
            <a:prstDash val="solid"/>
          </a:ln>
          <a:effectLst>
            <a:outerShdw blurRad="76200" dist="25400" dir="5400000" algn="bl" rotWithShape="0">
              <a:srgbClr val="9BB0AE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8275320" y="20116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Ciências Contábeis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275320" y="274320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resultados e foco em receitas recorrentes e fidelização.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297680"/>
            <a:ext cx="10881360" cy="1554480"/>
          </a:xfrm>
          <a:prstGeom prst="roundRect">
            <a:avLst>
              <a:gd name="adj" fmla="val 5294"/>
            </a:avLst>
          </a:prstGeom>
          <a:solidFill>
            <a:srgbClr val="E1F3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914400" y="4434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frentes que andam juntas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80060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Capacitação dos colaboradores em escuta ativa, empatia e Comunicação Não Violenta (ação principal).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de IA como ferramenta complementar: organiza os dados do cliente e sugere abordagens acolhedoras e resolutivas.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camadas que trabalham juntas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0241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agente lê os dados e o conhecimento da empresa e entrega rascunhos para o humano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F4FAF9"/>
          </a:solidFill>
          <a:ln w="12700">
            <a:solidFill>
              <a:srgbClr val="D7E5E2"/>
            </a:solidFill>
            <a:prstDash val="solid"/>
          </a:ln>
          <a:effectLst>
            <a:outerShdw blurRad="76200" dist="25400" dir="5400000" algn="bl" rotWithShape="0">
              <a:srgbClr val="9BB0AE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645920" y="2057400"/>
            <a:ext cx="594360" cy="594360"/>
          </a:xfrm>
          <a:prstGeom prst="ellipse">
            <a:avLst/>
          </a:prstGeom>
          <a:solidFill>
            <a:srgbClr val="007B7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164592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889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(Skills)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42900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Preventivo e Pós-NPS — a lógica de cada atendimento, editável em texto.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29000" y="178308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F4FAF9"/>
          </a:solidFill>
          <a:ln w="12700">
            <a:solidFill>
              <a:srgbClr val="D7E5E2"/>
            </a:solidFill>
            <a:prstDash val="solid"/>
          </a:ln>
          <a:effectLst>
            <a:outerShdw blurRad="76200" dist="25400" dir="5400000" algn="bl" rotWithShape="0">
              <a:srgbClr val="9BB0AE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434840" y="2057400"/>
            <a:ext cx="594360" cy="594360"/>
          </a:xfrm>
          <a:prstGeom prst="ellipse">
            <a:avLst/>
          </a:prstGeom>
          <a:solidFill>
            <a:srgbClr val="00A3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443484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7889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30168" y="342900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conhecimento: tom, tratativas e perguntas. Define o QUE dizer.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17920" y="178308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F4FAF9"/>
          </a:solidFill>
          <a:ln w="12700">
            <a:solidFill>
              <a:srgbClr val="D7E5E2"/>
            </a:solidFill>
            <a:prstDash val="solid"/>
          </a:ln>
          <a:effectLst>
            <a:outerShdw blurRad="76200" dist="25400" dir="5400000" algn="bl" rotWithShape="0">
              <a:srgbClr val="9BB0AE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223760" y="2057400"/>
            <a:ext cx="594360" cy="594360"/>
          </a:xfrm>
          <a:prstGeom prst="ellipse">
            <a:avLst/>
          </a:prstGeom>
          <a:solidFill>
            <a:srgbClr val="24C6A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722376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27889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MCP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19088" y="342900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os dados dos clientes e serve as ferramentas ao agente.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006840" y="178308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F4FAF9"/>
          </a:solidFill>
          <a:ln w="12700">
            <a:solidFill>
              <a:srgbClr val="D7E5E2"/>
            </a:solidFill>
            <a:prstDash val="solid"/>
          </a:ln>
          <a:effectLst>
            <a:outerShdw blurRad="76200" dist="25400" dir="5400000" algn="bl" rotWithShape="0">
              <a:srgbClr val="9BB0AE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10012680" y="2057400"/>
            <a:ext cx="594360" cy="594360"/>
          </a:xfrm>
          <a:prstGeom prst="ellipse">
            <a:avLst/>
          </a:prstGeom>
          <a:solidFill>
            <a:srgbClr val="B970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 txBox="1"/>
          <p:nvPr/>
        </p:nvSpPr>
        <p:spPr>
          <a:xfrm>
            <a:off x="1001268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0" y="27889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208008" y="342900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regras invioláveis (LGPD): humano revisa, nunca envia sozinho.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58368" y="5669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007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uma visão consolidada de cada cliente — o “Cliente 360” — que alimenta os dois agentes.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NO DIA A DIA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funciona, do dado ao envio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14600" cy="1874520"/>
          </a:xfrm>
          <a:prstGeom prst="roundRect">
            <a:avLst>
              <a:gd name="adj" fmla="val 4390"/>
            </a:avLst>
          </a:prstGeom>
          <a:solidFill>
            <a:srgbClr val="E9F4F2"/>
          </a:solidFill>
          <a:ln/>
          <a:effectLst>
            <a:outerShdw blurRad="76200" dist="25400" dir="5400000" algn="bl" rotWithShape="0">
              <a:srgbClr val="9BB0AE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457200" cy="457200"/>
          </a:xfrm>
          <a:prstGeom prst="ellipse">
            <a:avLst/>
          </a:prstGeom>
          <a:solidFill>
            <a:srgbClr val="00A3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06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compila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175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as regras e monta a fila priorizada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82112" y="2606040"/>
            <a:ext cx="310896" cy="320040"/>
          </a:xfrm>
          <a:prstGeom prst="rightArrow">
            <a:avLst/>
          </a:prstGeom>
          <a:solidFill>
            <a:srgbClr val="24C6A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529584" y="1828800"/>
            <a:ext cx="2514600" cy="1874520"/>
          </a:xfrm>
          <a:prstGeom prst="roundRect">
            <a:avLst>
              <a:gd name="adj" fmla="val 4390"/>
            </a:avLst>
          </a:prstGeom>
          <a:solidFill>
            <a:srgbClr val="E9F4F2"/>
          </a:solidFill>
          <a:ln/>
          <a:effectLst>
            <a:outerShdw blurRad="76200" dist="25400" dir="5400000" algn="bl" rotWithShape="0">
              <a:srgbClr val="9BB0AE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3712464" y="2011680"/>
            <a:ext cx="457200" cy="457200"/>
          </a:xfrm>
          <a:prstGeom prst="ellipse">
            <a:avLst/>
          </a:prstGeom>
          <a:solidFill>
            <a:srgbClr val="00A3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3712464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712464" y="2606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redige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712464" y="30175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Formata o dossiê e escreve o rascunho no tom certo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71616" y="2606040"/>
            <a:ext cx="310896" cy="320040"/>
          </a:xfrm>
          <a:prstGeom prst="rightArrow">
            <a:avLst/>
          </a:prstGeom>
          <a:solidFill>
            <a:srgbClr val="24C6A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6419088" y="1828800"/>
            <a:ext cx="2514600" cy="1874520"/>
          </a:xfrm>
          <a:prstGeom prst="roundRect">
            <a:avLst>
              <a:gd name="adj" fmla="val 4390"/>
            </a:avLst>
          </a:prstGeom>
          <a:solidFill>
            <a:srgbClr val="E1F3EC"/>
          </a:solidFill>
          <a:ln/>
          <a:effectLst>
            <a:outerShdw blurRad="76200" dist="25400" dir="5400000" algn="bl" rotWithShape="0">
              <a:srgbClr val="9BB0AE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6601968" y="2011680"/>
            <a:ext cx="457200" cy="457200"/>
          </a:xfrm>
          <a:prstGeom prst="ellipse">
            <a:avLst/>
          </a:prstGeom>
          <a:solidFill>
            <a:srgbClr val="007B7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 txBox="1"/>
          <p:nvPr/>
        </p:nvSpPr>
        <p:spPr>
          <a:xfrm>
            <a:off x="6601968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01968" y="2606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Atendente valida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601968" y="30175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Lê, ajusta e aprova — a barreira humana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961120" y="2606040"/>
            <a:ext cx="310896" cy="320040"/>
          </a:xfrm>
          <a:prstGeom prst="rightArrow">
            <a:avLst/>
          </a:prstGeom>
          <a:solidFill>
            <a:srgbClr val="24C6A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9308592" y="1828800"/>
            <a:ext cx="2514600" cy="1874520"/>
          </a:xfrm>
          <a:prstGeom prst="roundRect">
            <a:avLst>
              <a:gd name="adj" fmla="val 4390"/>
            </a:avLst>
          </a:prstGeom>
          <a:solidFill>
            <a:srgbClr val="E9F4F2"/>
          </a:solidFill>
          <a:ln/>
          <a:effectLst>
            <a:outerShdw blurRad="76200" dist="25400" dir="5400000" algn="bl" rotWithShape="0">
              <a:srgbClr val="9BB0AE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9491472" y="2011680"/>
            <a:ext cx="457200" cy="457200"/>
          </a:xfrm>
          <a:prstGeom prst="ellipse">
            <a:avLst/>
          </a:prstGeom>
          <a:solidFill>
            <a:srgbClr val="00A3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 txBox="1"/>
          <p:nvPr/>
        </p:nvSpPr>
        <p:spPr>
          <a:xfrm>
            <a:off x="9491472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491472" y="2606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 humano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491472" y="30175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 via Megazap (WhatsApp) ou e-mail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4160520"/>
            <a:ext cx="10881360" cy="1737360"/>
          </a:xfrm>
          <a:prstGeom prst="roundRect">
            <a:avLst>
              <a:gd name="adj" fmla="val 4737"/>
            </a:avLst>
          </a:prstGeom>
          <a:solidFill>
            <a:srgbClr val="F4FAF9"/>
          </a:solidFill>
          <a:ln w="12700">
            <a:solidFill>
              <a:srgbClr val="D7E5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914400" y="4389120"/>
            <a:ext cx="502920" cy="502920"/>
          </a:xfrm>
          <a:prstGeom prst="ellipse">
            <a:avLst/>
          </a:prstGeom>
          <a:solidFill>
            <a:srgbClr val="B970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 txBox="1"/>
          <p:nvPr/>
        </p:nvSpPr>
        <p:spPr>
          <a:xfrm>
            <a:off x="91440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600200" y="43891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o agente NUNCA fala com o cliente.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600200" y="484632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é enviado automaticamente — quem dispara é sempre o atendente, depois de revisar.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resultado sai como um arquivo de rascunho (Word/Excel) salvo no computador.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“Enviar não é conversar”: um disparo da Millenium nunca conta como contato do cliente.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Preventivo — quem contatar e por quê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94960" cy="2286000"/>
          </a:xfrm>
          <a:prstGeom prst="roundRect">
            <a:avLst>
              <a:gd name="adj" fmla="val 3600"/>
            </a:avLst>
          </a:prstGeom>
          <a:solidFill>
            <a:srgbClr val="E9F4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914400" y="17830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Gatilho A — Inatividade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4028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antigo (tempo de casa alto) E sem contato recente.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conta engajamento do próprio cliente (NPS, visita, contrato no N1).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Disparo de marketing não conta como contato.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349240" cy="2286000"/>
          </a:xfrm>
          <a:prstGeom prst="roundRect">
            <a:avLst>
              <a:gd name="adj" fmla="val 3600"/>
            </a:avLst>
          </a:prstGeom>
          <a:solidFill>
            <a:srgbClr val="E9F4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6446520" y="17830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Gatilho B — Manutenção vencida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24028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Preventiva vencida ou nunca feita — mesmo quem falou com a gente há pouco.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 de recência.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Fase 1 é um proxy: sem movimento há ≥ 12 meses (não há coluna de visita).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10881360" cy="822960"/>
          </a:xfrm>
          <a:prstGeom prst="roundRect">
            <a:avLst>
              <a:gd name="adj" fmla="val 10000"/>
            </a:avLst>
          </a:prstGeom>
          <a:solidFill>
            <a:srgbClr val="E1F3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914400" y="4224528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fila é a UNIÃO de A e B, sem duplicar</a:t>
            </a:r>
            <a:r>
              <a:rPr lang="en-US" sz="135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quem cai nos dois vira um único contato, com os dois assuntos, priorizado por RFM (recência, antiguidade, valor).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5074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entregas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4406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(Word): a lista priorizada, com motivo, ângulo e perguntas para abrir a conversa.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8521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Copiloto de conversa: perguntas de descoberta antes, e sugestões de resposta durante o atendimento.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2 + EXPORTAÇÃO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Pós-NPS e o Cliente 360 em Excel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2468880"/>
          </a:xfrm>
          <a:prstGeom prst="roundRect">
            <a:avLst>
              <a:gd name="adj" fmla="val 3333"/>
            </a:avLst>
          </a:prstGeom>
          <a:solidFill>
            <a:srgbClr val="F4FAF9"/>
          </a:solidFill>
          <a:ln w="12700">
            <a:solidFill>
              <a:srgbClr val="D7E5E2"/>
            </a:solidFill>
            <a:prstDash val="solid"/>
          </a:ln>
          <a:effectLst>
            <a:outerShdw blurRad="76200" dist="25400" dir="5400000" algn="bl" rotWithShape="0">
              <a:srgbClr val="9BB0AE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2606040" cy="566928"/>
          </a:xfrm>
          <a:prstGeom prst="roundRect">
            <a:avLst>
              <a:gd name="adj" fmla="val 14516"/>
            </a:avLst>
          </a:prstGeom>
          <a:solidFill>
            <a:srgbClr val="007B7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Promotor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77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9–10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889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Agradecer de verdade, sem emendar venda.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29000" y="1691640"/>
            <a:ext cx="2606040" cy="2468880"/>
          </a:xfrm>
          <a:prstGeom prst="roundRect">
            <a:avLst>
              <a:gd name="adj" fmla="val 3333"/>
            </a:avLst>
          </a:prstGeom>
          <a:solidFill>
            <a:srgbClr val="F4FAF9"/>
          </a:solidFill>
          <a:ln w="12700">
            <a:solidFill>
              <a:srgbClr val="D7E5E2"/>
            </a:solidFill>
            <a:prstDash val="solid"/>
          </a:ln>
          <a:effectLst>
            <a:outerShdw blurRad="76200" dist="25400" dir="5400000" algn="bl" rotWithShape="0">
              <a:srgbClr val="9BB0AE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429000" y="1691640"/>
            <a:ext cx="2606040" cy="566928"/>
          </a:xfrm>
          <a:prstGeom prst="roundRect">
            <a:avLst>
              <a:gd name="adj" fmla="val 14516"/>
            </a:avLst>
          </a:prstGeom>
          <a:solidFill>
            <a:srgbClr val="00A3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Passivo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377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7–8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27889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e buscar o próximo passo.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0" y="1691640"/>
            <a:ext cx="2606040" cy="2468880"/>
          </a:xfrm>
          <a:prstGeom prst="roundRect">
            <a:avLst>
              <a:gd name="adj" fmla="val 3333"/>
            </a:avLst>
          </a:prstGeom>
          <a:solidFill>
            <a:srgbClr val="F4FAF9"/>
          </a:solidFill>
          <a:ln w="12700">
            <a:solidFill>
              <a:srgbClr val="D7E5E2"/>
            </a:solidFill>
            <a:prstDash val="solid"/>
          </a:ln>
          <a:effectLst>
            <a:outerShdw blurRad="76200" dist="25400" dir="5400000" algn="bl" rotWithShape="0">
              <a:srgbClr val="9BB0AE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6217920" y="1691640"/>
            <a:ext cx="2606040" cy="566928"/>
          </a:xfrm>
          <a:prstGeom prst="roundRect">
            <a:avLst>
              <a:gd name="adj" fmla="val 14516"/>
            </a:avLst>
          </a:prstGeom>
          <a:solidFill>
            <a:srgbClr val="B970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6217920" y="169164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Detrator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2377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0–6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27889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Acolher sem se defender; citar a tratativa e o status.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98280" y="1691640"/>
            <a:ext cx="2423160" cy="2468880"/>
          </a:xfrm>
          <a:prstGeom prst="roundRect">
            <a:avLst>
              <a:gd name="adj" fmla="val 3396"/>
            </a:avLst>
          </a:prstGeom>
          <a:solidFill>
            <a:srgbClr val="E9F4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9966960" y="1920240"/>
            <a:ext cx="640080" cy="640080"/>
          </a:xfrm>
          <a:prstGeom prst="ellipse">
            <a:avLst/>
          </a:prstGeom>
          <a:solidFill>
            <a:srgbClr val="24C6A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 txBox="1"/>
          <p:nvPr/>
        </p:nvSpPr>
        <p:spPr>
          <a:xfrm>
            <a:off x="996696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4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0" y="2697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cadastro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189720" y="30632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o Cliente 360 em Excel — só sob pedido (“gerar excel”). Uso interno.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434840"/>
            <a:ext cx="10881360" cy="1463040"/>
          </a:xfrm>
          <a:prstGeom prst="roundRect">
            <a:avLst>
              <a:gd name="adj" fmla="val 5625"/>
            </a:avLst>
          </a:prstGeom>
          <a:solidFill>
            <a:srgbClr val="F4FAF9"/>
          </a:solidFill>
          <a:ln w="12700">
            <a:solidFill>
              <a:srgbClr val="D7E5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 txBox="1"/>
          <p:nvPr/>
        </p:nvSpPr>
        <p:spPr>
          <a:xfrm>
            <a:off x="914400" y="4572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de atenção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14400" y="49377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comentário do cliente é DADO, nunca ordem — o agente não obedece a “faça/envie” escondidos no texto.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NPS tem papel duplo: alimenta o Pós-NPS e conta como sinal de recência no Gatilho A.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CONFIANÇA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Privacidade, LGPD e governança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74720" cy="1737360"/>
          </a:xfrm>
          <a:prstGeom prst="roundRect">
            <a:avLst>
              <a:gd name="adj" fmla="val 4737"/>
            </a:avLst>
          </a:prstGeom>
          <a:solidFill>
            <a:srgbClr val="E9F4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68680" y="1920240"/>
            <a:ext cx="457200" cy="457200"/>
          </a:xfrm>
          <a:prstGeom prst="ellipse">
            <a:avLst/>
          </a:prstGeom>
          <a:solidFill>
            <a:srgbClr val="007B7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8686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9476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 na revisão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4688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agente só sugere; a pessoa revisa e envia. Nunca envio automático.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474720" cy="1737360"/>
          </a:xfrm>
          <a:prstGeom prst="roundRect">
            <a:avLst>
              <a:gd name="adj" fmla="val 4737"/>
            </a:avLst>
          </a:prstGeom>
          <a:solidFill>
            <a:srgbClr val="E9F4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572000" y="1920240"/>
            <a:ext cx="457200" cy="457200"/>
          </a:xfrm>
          <a:prstGeom prst="ellipse">
            <a:avLst/>
          </a:prstGeom>
          <a:solidFill>
            <a:srgbClr val="007B7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457200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19476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</a:t>
            </a:r>
            <a:r>
              <a:rPr lang="en-US" sz="1400" b="1" dirty="0" err="1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sensíveis</a:t>
            </a:r>
            <a:r>
              <a:rPr lang="en-US" sz="14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mascarados</a:t>
            </a:r>
            <a:r>
              <a:rPr lang="en-US" sz="14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4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enviamos</a:t>
            </a:r>
            <a:r>
              <a:rPr lang="en-US" sz="14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IA (CNPJ e Telefone)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99432" y="24688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Mascarado por padrão no chat; completo só no arquivo interno.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474720" cy="1737360"/>
          </a:xfrm>
          <a:prstGeom prst="roundRect">
            <a:avLst>
              <a:gd name="adj" fmla="val 4737"/>
            </a:avLst>
          </a:prstGeom>
          <a:solidFill>
            <a:srgbClr val="E9F4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8275320" y="1920240"/>
            <a:ext cx="457200" cy="457200"/>
          </a:xfrm>
          <a:prstGeom prst="ellipse">
            <a:avLst/>
          </a:prstGeom>
          <a:solidFill>
            <a:srgbClr val="007B7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82753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869680" y="19476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≠ instrução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02752" y="24688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Comentários e mensagens são tratados como dado, não como ordens.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657600"/>
            <a:ext cx="3474720" cy="1737360"/>
          </a:xfrm>
          <a:prstGeom prst="roundRect">
            <a:avLst>
              <a:gd name="adj" fmla="val 4737"/>
            </a:avLst>
          </a:prstGeom>
          <a:solidFill>
            <a:srgbClr val="E9F4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868680" y="3886200"/>
            <a:ext cx="457200" cy="457200"/>
          </a:xfrm>
          <a:prstGeom prst="ellipse">
            <a:avLst/>
          </a:prstGeom>
          <a:solidFill>
            <a:srgbClr val="007B7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 txBox="1"/>
          <p:nvPr/>
        </p:nvSpPr>
        <p:spPr>
          <a:xfrm>
            <a:off x="8686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39136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≠ contato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96112" y="44348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Disparo da Millenium não reduz inatividade; só engajamento do cliente conta.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43400" y="3657600"/>
            <a:ext cx="3474720" cy="1737360"/>
          </a:xfrm>
          <a:prstGeom prst="roundRect">
            <a:avLst>
              <a:gd name="adj" fmla="val 4737"/>
            </a:avLst>
          </a:prstGeom>
          <a:solidFill>
            <a:srgbClr val="E9F4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572000" y="3886200"/>
            <a:ext cx="457200" cy="457200"/>
          </a:xfrm>
          <a:prstGeom prst="ellipse">
            <a:avLst/>
          </a:prstGeom>
          <a:solidFill>
            <a:srgbClr val="007B7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 txBox="1"/>
          <p:nvPr/>
        </p:nvSpPr>
        <p:spPr>
          <a:xfrm>
            <a:off x="457200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166360" y="39136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perturbar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599432" y="44348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fila exclui quem pediu para não ser contatado; sem dois toques.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46720" y="3657600"/>
            <a:ext cx="3474720" cy="1737360"/>
          </a:xfrm>
          <a:prstGeom prst="roundRect">
            <a:avLst>
              <a:gd name="adj" fmla="val 4737"/>
            </a:avLst>
          </a:prstGeom>
          <a:solidFill>
            <a:srgbClr val="E9F4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8275320" y="3886200"/>
            <a:ext cx="457200" cy="457200"/>
          </a:xfrm>
          <a:prstGeom prst="ellipse">
            <a:avLst/>
          </a:prstGeom>
          <a:solidFill>
            <a:srgbClr val="007B7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 txBox="1"/>
          <p:nvPr/>
        </p:nvSpPr>
        <p:spPr>
          <a:xfrm>
            <a:off x="82753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869680" y="39136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Minimização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302752" y="44348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ao modelo só o </a:t>
            </a:r>
            <a:r>
              <a:rPr lang="en-US" sz="1150" dirty="0" err="1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necessário</a:t>
            </a:r>
            <a:r>
              <a:rPr lang="en-US" sz="115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658368" y="5715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7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com dados fictícios/mascarados e treino do modelo desligado (contrato com a Anthropic).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 DE DADOS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r>
              <a:rPr lang="en-US" sz="32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Acta Tech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0241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dado real é processado antes de </a:t>
            </a:r>
            <a:r>
              <a:rPr lang="en-US" sz="1400" b="1" dirty="0" err="1">
                <a:solidFill>
                  <a:srgbClr val="007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passar</a:t>
            </a:r>
            <a:r>
              <a:rPr lang="en-US" sz="1400" b="1" dirty="0">
                <a:solidFill>
                  <a:srgbClr val="007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pela </a:t>
            </a:r>
            <a:r>
              <a:rPr lang="en-US" sz="1400" b="1" dirty="0" err="1">
                <a:solidFill>
                  <a:srgbClr val="007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</a:t>
            </a:r>
            <a:r>
              <a:rPr lang="en-US" sz="1400" b="1" dirty="0">
                <a:solidFill>
                  <a:srgbClr val="007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Acta Tech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2514600" cy="2011680"/>
          </a:xfrm>
          <a:prstGeom prst="roundRect">
            <a:avLst>
              <a:gd name="adj" fmla="val 4091"/>
            </a:avLst>
          </a:prstGeom>
          <a:solidFill>
            <a:srgbClr val="E9F4F2"/>
          </a:solidFill>
          <a:ln/>
          <a:effectLst>
            <a:outerShdw blurRad="76200" dist="25400" dir="5400000" algn="bl" rotWithShape="0">
              <a:srgbClr val="9BB0AE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600200" y="2011680"/>
            <a:ext cx="594360" cy="594360"/>
          </a:xfrm>
          <a:prstGeom prst="ellipse">
            <a:avLst/>
          </a:prstGeom>
          <a:solidFill>
            <a:srgbClr val="007B7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1600200" y="2011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43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546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Fechar o esqueleto do Cliente 360 com dados fictícios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82112" y="2606040"/>
            <a:ext cx="310896" cy="320040"/>
          </a:xfrm>
          <a:prstGeom prst="rightArrow">
            <a:avLst/>
          </a:prstGeom>
          <a:solidFill>
            <a:srgbClr val="24C6A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3529584" y="1783080"/>
            <a:ext cx="2514600" cy="2011680"/>
          </a:xfrm>
          <a:prstGeom prst="roundRect">
            <a:avLst>
              <a:gd name="adj" fmla="val 4091"/>
            </a:avLst>
          </a:prstGeom>
          <a:solidFill>
            <a:srgbClr val="E9F4F2"/>
          </a:solidFill>
          <a:ln/>
          <a:effectLst>
            <a:outerShdw blurRad="76200" dist="25400" dir="5400000" algn="bl" rotWithShape="0">
              <a:srgbClr val="9BB0AE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489704" y="2011680"/>
            <a:ext cx="594360" cy="594360"/>
          </a:xfrm>
          <a:prstGeom prst="ellipse">
            <a:avLst/>
          </a:prstGeom>
          <a:solidFill>
            <a:srgbClr val="007B7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4489704" y="2011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666744" y="2743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712464" y="31546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com os responsáveis do projeto e a gestão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71616" y="2606040"/>
            <a:ext cx="310896" cy="320040"/>
          </a:xfrm>
          <a:prstGeom prst="rightArrow">
            <a:avLst/>
          </a:prstGeom>
          <a:solidFill>
            <a:srgbClr val="24C6A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6419088" y="1783080"/>
            <a:ext cx="2514600" cy="2011680"/>
          </a:xfrm>
          <a:prstGeom prst="roundRect">
            <a:avLst>
              <a:gd name="adj" fmla="val 4091"/>
            </a:avLst>
          </a:prstGeom>
          <a:solidFill>
            <a:srgbClr val="E9F4F2"/>
          </a:solidFill>
          <a:ln/>
          <a:effectLst>
            <a:outerShdw blurRad="76200" dist="25400" dir="5400000" algn="bl" rotWithShape="0">
              <a:srgbClr val="9BB0AE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7379208" y="2011680"/>
            <a:ext cx="594360" cy="594360"/>
          </a:xfrm>
          <a:prstGeom prst="ellipse">
            <a:avLst/>
          </a:prstGeom>
          <a:solidFill>
            <a:srgbClr val="007B7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 txBox="1"/>
          <p:nvPr/>
        </p:nvSpPr>
        <p:spPr>
          <a:xfrm>
            <a:off x="7379208" y="2011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556248" y="2743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601968" y="31546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Apresentar à Acta Tech: dado × finalidade × base legal × uso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961120" y="2606040"/>
            <a:ext cx="310896" cy="320040"/>
          </a:xfrm>
          <a:prstGeom prst="rightArrow">
            <a:avLst/>
          </a:prstGeom>
          <a:solidFill>
            <a:srgbClr val="24C6A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9308592" y="1783080"/>
            <a:ext cx="2514600" cy="2011680"/>
          </a:xfrm>
          <a:prstGeom prst="roundRect">
            <a:avLst>
              <a:gd name="adj" fmla="val 4091"/>
            </a:avLst>
          </a:prstGeom>
          <a:solidFill>
            <a:srgbClr val="E9F4F2"/>
          </a:solidFill>
          <a:ln/>
          <a:effectLst>
            <a:outerShdw blurRad="76200" dist="25400" dir="5400000" algn="bl" rotWithShape="0">
              <a:srgbClr val="9BB0AE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10268712" y="2011680"/>
            <a:ext cx="594360" cy="594360"/>
          </a:xfrm>
          <a:prstGeom prst="ellipse">
            <a:avLst/>
          </a:prstGeom>
          <a:solidFill>
            <a:srgbClr val="007B7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 txBox="1"/>
          <p:nvPr/>
        </p:nvSpPr>
        <p:spPr>
          <a:xfrm>
            <a:off x="10268712" y="2011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445752" y="2743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Formalizar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491472" y="31546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Anexar a autorização por e-mail antes do dado real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4206240"/>
            <a:ext cx="10881360" cy="1691640"/>
          </a:xfrm>
          <a:prstGeom prst="roundRect">
            <a:avLst>
              <a:gd name="adj" fmla="val 4865"/>
            </a:avLst>
          </a:prstGeom>
          <a:solidFill>
            <a:srgbClr val="E1F3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 txBox="1"/>
          <p:nvPr/>
        </p:nvSpPr>
        <p:spPr>
          <a:xfrm>
            <a:off x="914400" y="4343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 a confirmar com a Acta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914400" y="470916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 proativo B2B: tende a legítimo interesse (retenção).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NPS: consentimento coletado no próprio formulário.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360: consolidação tratada como finalidade própria. Prever retenção, auditoria e DPA com a Anthropic.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hexagonal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0241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núcleo de regras estável, com ‘encaixes’ (adaptadores) trocáveis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343400" y="2148840"/>
            <a:ext cx="3520440" cy="2880360"/>
          </a:xfrm>
          <a:prstGeom prst="roundRect">
            <a:avLst>
              <a:gd name="adj" fmla="val 2857"/>
            </a:avLst>
          </a:prstGeom>
          <a:solidFill>
            <a:srgbClr val="007B77"/>
          </a:solidFill>
          <a:ln/>
          <a:effectLst>
            <a:outerShdw blurRad="76200" dist="25400" dir="5400000" algn="bl" rotWithShape="0">
              <a:srgbClr val="9BB0AE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4343400" y="22860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4343400" y="26974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D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negócio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310896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A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normalização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A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recência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A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A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linkage (cruzamento)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A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· portas (interfaces)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148840"/>
            <a:ext cx="3291840" cy="2880360"/>
          </a:xfrm>
          <a:prstGeom prst="roundRect">
            <a:avLst>
              <a:gd name="adj" fmla="val 2857"/>
            </a:avLst>
          </a:prstGeom>
          <a:solidFill>
            <a:srgbClr val="E9F4F2"/>
          </a:solidFill>
          <a:ln w="12700">
            <a:solidFill>
              <a:srgbClr val="D7E5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822960" y="2286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· Ferramentas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274320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11 tools (@Tool)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apresentação ao agente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estável entre fases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75320" y="2148840"/>
            <a:ext cx="3246120" cy="2880360"/>
          </a:xfrm>
          <a:prstGeom prst="roundRect">
            <a:avLst>
              <a:gd name="adj" fmla="val 2857"/>
            </a:avLst>
          </a:prstGeom>
          <a:solidFill>
            <a:srgbClr val="E9F4F2"/>
          </a:solidFill>
          <a:ln w="12700">
            <a:solidFill>
              <a:srgbClr val="D7E5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8458200" y="2286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Adaptadores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503920" y="274320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(Apache POI) — Fase 1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 (Markdown)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 (Word)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2: troca por API/MySQL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977640" y="3429000"/>
            <a:ext cx="320040" cy="320040"/>
          </a:xfrm>
          <a:prstGeom prst="rightArrow">
            <a:avLst/>
          </a:prstGeom>
          <a:solidFill>
            <a:srgbClr val="24C6A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909560" y="3429000"/>
            <a:ext cx="320040" cy="320040"/>
          </a:xfrm>
          <a:prstGeom prst="leftArrow">
            <a:avLst/>
          </a:prstGeom>
          <a:solidFill>
            <a:srgbClr val="24C6A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658368" y="52578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007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Passar da Fase 1 para a 2 = trocar o adaptador (Excel → API/MySQL) e o transporte (stdio → HTTPS). O núcleo e as ferramentas não mudam.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processamento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514600" cy="1097280"/>
          </a:xfrm>
          <a:prstGeom prst="roundRect">
            <a:avLst>
              <a:gd name="adj" fmla="val 7500"/>
            </a:avLst>
          </a:prstGeom>
          <a:solidFill>
            <a:srgbClr val="E9F4F2"/>
          </a:solidFill>
          <a:ln w="12700">
            <a:solidFill>
              <a:srgbClr val="D7E5E2"/>
            </a:solidFill>
            <a:prstDash val="solid"/>
          </a:ln>
          <a:effectLst>
            <a:outerShdw blurRad="76200" dist="25400" dir="5400000" algn="bl" rotWithShape="0">
              <a:srgbClr val="9BB0AE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04672" y="2103120"/>
            <a:ext cx="457200" cy="457200"/>
          </a:xfrm>
          <a:prstGeom prst="ellipse">
            <a:avLst/>
          </a:prstGeom>
          <a:solidFill>
            <a:srgbClr val="00A3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804672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53312" y="178308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planilhas Excel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191256" y="2167128"/>
            <a:ext cx="274320" cy="292608"/>
          </a:xfrm>
          <a:prstGeom prst="rightArrow">
            <a:avLst/>
          </a:prstGeom>
          <a:solidFill>
            <a:srgbClr val="24C6A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3529584" y="1783080"/>
            <a:ext cx="2514600" cy="1097280"/>
          </a:xfrm>
          <a:prstGeom prst="roundRect">
            <a:avLst>
              <a:gd name="adj" fmla="val 7500"/>
            </a:avLst>
          </a:prstGeom>
          <a:solidFill>
            <a:srgbClr val="E9F4F2"/>
          </a:solidFill>
          <a:ln w="12700">
            <a:solidFill>
              <a:srgbClr val="D7E5E2"/>
            </a:solidFill>
            <a:prstDash val="solid"/>
          </a:ln>
          <a:effectLst>
            <a:outerShdw blurRad="76200" dist="25400" dir="5400000" algn="bl" rotWithShape="0">
              <a:srgbClr val="9BB0AE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694176" y="2103120"/>
            <a:ext cx="457200" cy="457200"/>
          </a:xfrm>
          <a:prstGeom prst="ellipse">
            <a:avLst/>
          </a:prstGeom>
          <a:solidFill>
            <a:srgbClr val="00A3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3694176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242816" y="178308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Normalização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80760" y="2167128"/>
            <a:ext cx="274320" cy="292608"/>
          </a:xfrm>
          <a:prstGeom prst="rightArrow">
            <a:avLst/>
          </a:prstGeom>
          <a:solidFill>
            <a:srgbClr val="24C6A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6419088" y="1783080"/>
            <a:ext cx="2514600" cy="1097280"/>
          </a:xfrm>
          <a:prstGeom prst="roundRect">
            <a:avLst>
              <a:gd name="adj" fmla="val 7500"/>
            </a:avLst>
          </a:prstGeom>
          <a:solidFill>
            <a:srgbClr val="E9F4F2"/>
          </a:solidFill>
          <a:ln w="12700">
            <a:solidFill>
              <a:srgbClr val="D7E5E2"/>
            </a:solidFill>
            <a:prstDash val="solid"/>
          </a:ln>
          <a:effectLst>
            <a:outerShdw blurRad="76200" dist="25400" dir="5400000" algn="bl" rotWithShape="0">
              <a:srgbClr val="9BB0AE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6583680" y="2103120"/>
            <a:ext cx="457200" cy="457200"/>
          </a:xfrm>
          <a:prstGeom prst="ellipse">
            <a:avLst/>
          </a:prstGeom>
          <a:solidFill>
            <a:srgbClr val="00A3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65836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0" y="178308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Cruzamento / linkage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970264" y="2167128"/>
            <a:ext cx="274320" cy="292608"/>
          </a:xfrm>
          <a:prstGeom prst="rightArrow">
            <a:avLst/>
          </a:prstGeom>
          <a:solidFill>
            <a:srgbClr val="24C6A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9308592" y="1783080"/>
            <a:ext cx="2514600" cy="1097280"/>
          </a:xfrm>
          <a:prstGeom prst="roundRect">
            <a:avLst>
              <a:gd name="adj" fmla="val 7500"/>
            </a:avLst>
          </a:prstGeom>
          <a:solidFill>
            <a:srgbClr val="E9F4F2"/>
          </a:solidFill>
          <a:ln w="12700">
            <a:solidFill>
              <a:srgbClr val="D7E5E2"/>
            </a:solidFill>
            <a:prstDash val="solid"/>
          </a:ln>
          <a:effectLst>
            <a:outerShdw blurRad="76200" dist="25400" dir="5400000" algn="bl" rotWithShape="0">
              <a:srgbClr val="9BB0AE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9473184" y="2103120"/>
            <a:ext cx="457200" cy="457200"/>
          </a:xfrm>
          <a:prstGeom prst="ellipse">
            <a:avLst/>
          </a:prstGeom>
          <a:solidFill>
            <a:srgbClr val="00A3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 txBox="1"/>
          <p:nvPr/>
        </p:nvSpPr>
        <p:spPr>
          <a:xfrm>
            <a:off x="9473184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021824" y="178308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Recência consolidada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3383280"/>
            <a:ext cx="2514600" cy="1097280"/>
          </a:xfrm>
          <a:prstGeom prst="roundRect">
            <a:avLst>
              <a:gd name="adj" fmla="val 7500"/>
            </a:avLst>
          </a:prstGeom>
          <a:solidFill>
            <a:srgbClr val="F4FAF9"/>
          </a:solidFill>
          <a:ln w="12700">
            <a:solidFill>
              <a:srgbClr val="D7E5E2"/>
            </a:solidFill>
            <a:prstDash val="solid"/>
          </a:ln>
          <a:effectLst>
            <a:outerShdw blurRad="76200" dist="25400" dir="5400000" algn="bl" rotWithShape="0">
              <a:srgbClr val="9BB0AE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804672" y="3703320"/>
            <a:ext cx="457200" cy="457200"/>
          </a:xfrm>
          <a:prstGeom prst="ellipse">
            <a:avLst/>
          </a:prstGeom>
          <a:solidFill>
            <a:srgbClr val="00A3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 txBox="1"/>
          <p:nvPr/>
        </p:nvSpPr>
        <p:spPr>
          <a:xfrm>
            <a:off x="804672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353312" y="338328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3191256" y="3767328"/>
            <a:ext cx="274320" cy="292608"/>
          </a:xfrm>
          <a:prstGeom prst="rightArrow">
            <a:avLst/>
          </a:prstGeom>
          <a:solidFill>
            <a:srgbClr val="24C6A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3529584" y="3383280"/>
            <a:ext cx="2514600" cy="1097280"/>
          </a:xfrm>
          <a:prstGeom prst="roundRect">
            <a:avLst>
              <a:gd name="adj" fmla="val 7500"/>
            </a:avLst>
          </a:prstGeom>
          <a:solidFill>
            <a:srgbClr val="F4FAF9"/>
          </a:solidFill>
          <a:ln w="12700">
            <a:solidFill>
              <a:srgbClr val="D7E5E2"/>
            </a:solidFill>
            <a:prstDash val="solid"/>
          </a:ln>
          <a:effectLst>
            <a:outerShdw blurRad="76200" dist="25400" dir="5400000" algn="bl" rotWithShape="0">
              <a:srgbClr val="9BB0AE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3694176" y="3703320"/>
            <a:ext cx="457200" cy="457200"/>
          </a:xfrm>
          <a:prstGeom prst="ellipse">
            <a:avLst/>
          </a:prstGeom>
          <a:solidFill>
            <a:srgbClr val="00A3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 txBox="1"/>
          <p:nvPr/>
        </p:nvSpPr>
        <p:spPr>
          <a:xfrm>
            <a:off x="3694176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242816" y="338328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Gatilhos A / B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080760" y="3767328"/>
            <a:ext cx="274320" cy="292608"/>
          </a:xfrm>
          <a:prstGeom prst="rightArrow">
            <a:avLst/>
          </a:prstGeom>
          <a:solidFill>
            <a:srgbClr val="24C6A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6419088" y="3383280"/>
            <a:ext cx="2514600" cy="1097280"/>
          </a:xfrm>
          <a:prstGeom prst="roundRect">
            <a:avLst>
              <a:gd name="adj" fmla="val 7500"/>
            </a:avLst>
          </a:prstGeom>
          <a:solidFill>
            <a:srgbClr val="F4FAF9"/>
          </a:solidFill>
          <a:ln w="12700">
            <a:solidFill>
              <a:srgbClr val="D7E5E2"/>
            </a:solidFill>
            <a:prstDash val="solid"/>
          </a:ln>
          <a:effectLst>
            <a:outerShdw blurRad="76200" dist="25400" dir="5400000" algn="bl" rotWithShape="0">
              <a:srgbClr val="9BB0AE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6583680" y="3703320"/>
            <a:ext cx="457200" cy="457200"/>
          </a:xfrm>
          <a:prstGeom prst="ellipse">
            <a:avLst/>
          </a:prstGeom>
          <a:solidFill>
            <a:srgbClr val="00A3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 txBox="1"/>
          <p:nvPr/>
        </p:nvSpPr>
        <p:spPr>
          <a:xfrm>
            <a:off x="658368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7132320" y="338328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360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8970264" y="3767328"/>
            <a:ext cx="274320" cy="292608"/>
          </a:xfrm>
          <a:prstGeom prst="rightArrow">
            <a:avLst/>
          </a:prstGeom>
          <a:solidFill>
            <a:srgbClr val="24C6A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Shape 36"/>
          <p:cNvSpPr/>
          <p:nvPr/>
        </p:nvSpPr>
        <p:spPr>
          <a:xfrm>
            <a:off x="9308592" y="3383280"/>
            <a:ext cx="2514600" cy="1097280"/>
          </a:xfrm>
          <a:prstGeom prst="roundRect">
            <a:avLst>
              <a:gd name="adj" fmla="val 7500"/>
            </a:avLst>
          </a:prstGeom>
          <a:solidFill>
            <a:srgbClr val="F4FAF9"/>
          </a:solidFill>
          <a:ln w="12700">
            <a:solidFill>
              <a:srgbClr val="D7E5E2"/>
            </a:solidFill>
            <a:prstDash val="solid"/>
          </a:ln>
          <a:effectLst>
            <a:outerShdw blurRad="76200" dist="25400" dir="5400000" algn="bl" rotWithShape="0">
              <a:srgbClr val="9BB0AE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9" name="Shape 37"/>
          <p:cNvSpPr/>
          <p:nvPr/>
        </p:nvSpPr>
        <p:spPr>
          <a:xfrm>
            <a:off x="9473184" y="3703320"/>
            <a:ext cx="457200" cy="457200"/>
          </a:xfrm>
          <a:prstGeom prst="ellipse">
            <a:avLst/>
          </a:prstGeom>
          <a:solidFill>
            <a:srgbClr val="00A3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 txBox="1"/>
          <p:nvPr/>
        </p:nvSpPr>
        <p:spPr>
          <a:xfrm>
            <a:off x="9473184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10021824" y="338328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→ Agente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 rot="5400000">
            <a:off x="6876414" y="-594614"/>
            <a:ext cx="166244" cy="7536561"/>
          </a:xfrm>
          <a:prstGeom prst="downArrow">
            <a:avLst>
              <a:gd name="adj1" fmla="val 50000"/>
              <a:gd name="adj2" fmla="val 64519"/>
            </a:avLst>
          </a:prstGeom>
          <a:solidFill>
            <a:srgbClr val="24C6A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Shape 41"/>
          <p:cNvSpPr/>
          <p:nvPr/>
        </p:nvSpPr>
        <p:spPr>
          <a:xfrm>
            <a:off x="640080" y="5074920"/>
            <a:ext cx="10881360" cy="1280160"/>
          </a:xfrm>
          <a:prstGeom prst="roundRect">
            <a:avLst>
              <a:gd name="adj" fmla="val 6429"/>
            </a:avLst>
          </a:prstGeom>
          <a:solidFill>
            <a:srgbClr val="E9F4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 txBox="1"/>
          <p:nvPr/>
        </p:nvSpPr>
        <p:spPr>
          <a:xfrm>
            <a:off x="914400" y="51937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cruzamento amarra tudo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914400" y="55321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 vem em 3 exports amarrados pelo código do cliente (coluna Cod, prefixo 11111-).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 em cascata: CNPJ (exato) → telefone (provável) → razão social/fantasia (incerto). Tudo roda em memória na Fase 1.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11 ferramentas do servidor MCP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49240" cy="694944"/>
          </a:xfrm>
          <a:prstGeom prst="roundRect">
            <a:avLst>
              <a:gd name="adj" fmla="val 11842"/>
            </a:avLst>
          </a:prstGeom>
          <a:solidFill>
            <a:srgbClr val="E9F4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804672" y="1609344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7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preventivo_contatos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3200400" y="1609344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 a fila (A ou B) priorizada, com o dossiê de cada cliente (push).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200" y="1554480"/>
            <a:ext cx="5349240" cy="694944"/>
          </a:xfrm>
          <a:prstGeom prst="roundRect">
            <a:avLst>
              <a:gd name="adj" fmla="val 11842"/>
            </a:avLst>
          </a:prstGeom>
          <a:solidFill>
            <a:srgbClr val="F4FA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6336792" y="1609344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7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clientes_inativos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732520" y="1609344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o subconjunto do Gatilho A (resumo).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340864"/>
            <a:ext cx="5349240" cy="694944"/>
          </a:xfrm>
          <a:prstGeom prst="roundRect">
            <a:avLst>
              <a:gd name="adj" fmla="val 11842"/>
            </a:avLst>
          </a:prstGeom>
          <a:solidFill>
            <a:srgbClr val="E9F4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804672" y="2395728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7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clientes_para_contato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200400" y="2395728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o Gatilho B — preventiva vencida (resumo).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2340864"/>
            <a:ext cx="5349240" cy="694944"/>
          </a:xfrm>
          <a:prstGeom prst="roundRect">
            <a:avLst>
              <a:gd name="adj" fmla="val 11842"/>
            </a:avLst>
          </a:prstGeom>
          <a:solidFill>
            <a:srgbClr val="F4FA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6336792" y="2395728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7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historico_relacionamento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732520" y="2395728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do tempo do engajamento do cliente.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127248"/>
            <a:ext cx="5349240" cy="694944"/>
          </a:xfrm>
          <a:prstGeom prst="roundRect">
            <a:avLst>
              <a:gd name="adj" fmla="val 11842"/>
            </a:avLst>
          </a:prstGeom>
          <a:solidFill>
            <a:srgbClr val="E9F4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804672" y="3182112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7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ficha_cliente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200400" y="3182112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Detalha um cliente; confirma casamentos incertos.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3127248"/>
            <a:ext cx="5349240" cy="694944"/>
          </a:xfrm>
          <a:prstGeom prst="roundRect">
            <a:avLst>
              <a:gd name="adj" fmla="val 11842"/>
            </a:avLst>
          </a:prstGeom>
          <a:solidFill>
            <a:srgbClr val="F4FA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 txBox="1"/>
          <p:nvPr/>
        </p:nvSpPr>
        <p:spPr>
          <a:xfrm>
            <a:off x="6336792" y="3182112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7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situacao_nps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732520" y="3182112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Nota, faixa e comentário do NPS.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3913632"/>
            <a:ext cx="5349240" cy="694944"/>
          </a:xfrm>
          <a:prstGeom prst="roundRect">
            <a:avLst>
              <a:gd name="adj" fmla="val 11842"/>
            </a:avLst>
          </a:prstGeom>
          <a:solidFill>
            <a:srgbClr val="E9F4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 txBox="1"/>
          <p:nvPr/>
        </p:nvSpPr>
        <p:spPr>
          <a:xfrm>
            <a:off x="804672" y="3968496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7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estimar_servico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3200400" y="3968496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Estimativa de serviço para preparar a conversa.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72200" y="3913632"/>
            <a:ext cx="5349240" cy="694944"/>
          </a:xfrm>
          <a:prstGeom prst="roundRect">
            <a:avLst>
              <a:gd name="adj" fmla="val 11842"/>
            </a:avLst>
          </a:prstGeom>
          <a:solidFill>
            <a:srgbClr val="F4FA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 txBox="1"/>
          <p:nvPr/>
        </p:nvSpPr>
        <p:spPr>
          <a:xfrm>
            <a:off x="6336792" y="3968496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7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consultar_wiki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8732520" y="3968496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a wiki: tom, tratativas, princípios, perguntas.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4700016"/>
            <a:ext cx="5349240" cy="694944"/>
          </a:xfrm>
          <a:prstGeom prst="roundRect">
            <a:avLst>
              <a:gd name="adj" fmla="val 11842"/>
            </a:avLst>
          </a:prstGeom>
          <a:solidFill>
            <a:srgbClr val="E9F4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 txBox="1"/>
          <p:nvPr/>
        </p:nvSpPr>
        <p:spPr>
          <a:xfrm>
            <a:off x="804672" y="4754880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7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exportar_cadastro_xlsx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3200400" y="4754880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 o Cliente 360 em Excel (sob pedido).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72200" y="4700016"/>
            <a:ext cx="5349240" cy="694944"/>
          </a:xfrm>
          <a:prstGeom prst="roundRect">
            <a:avLst>
              <a:gd name="adj" fmla="val 11842"/>
            </a:avLst>
          </a:prstGeom>
          <a:solidFill>
            <a:srgbClr val="F4FA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 txBox="1"/>
          <p:nvPr/>
        </p:nvSpPr>
        <p:spPr>
          <a:xfrm>
            <a:off x="6336792" y="4754880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7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salvar_documento_docx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732520" y="4754880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Grava o plano/resposta em Word (.docx).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5486400"/>
            <a:ext cx="5349240" cy="694944"/>
          </a:xfrm>
          <a:prstGeom prst="roundRect">
            <a:avLst>
              <a:gd name="adj" fmla="val 11842"/>
            </a:avLst>
          </a:prstGeom>
          <a:solidFill>
            <a:srgbClr val="E9F4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 txBox="1"/>
          <p:nvPr/>
        </p:nvSpPr>
        <p:spPr>
          <a:xfrm>
            <a:off x="804672" y="5541264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7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recarregar_dados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3200400" y="5541264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Relê as planilhas após um novo export.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309360" y="59436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Nomes e descrições em português — é o contrato que o agente enxerga.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negócio implementadas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1280160"/>
          </a:xfrm>
          <a:prstGeom prst="roundRect">
            <a:avLst>
              <a:gd name="adj" fmla="val 6429"/>
            </a:avLst>
          </a:prstGeom>
          <a:solidFill>
            <a:srgbClr val="E9F4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68680" y="2011680"/>
            <a:ext cx="457200" cy="457200"/>
          </a:xfrm>
          <a:prstGeom prst="ellipse">
            <a:avLst/>
          </a:prstGeom>
          <a:solidFill>
            <a:srgbClr val="00A3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8686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7647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≠ conversa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14884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engajamento do cliente conta na recência; disparo nunca conta.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349240" cy="1280160"/>
          </a:xfrm>
          <a:prstGeom prst="roundRect">
            <a:avLst>
              <a:gd name="adj" fmla="val 6429"/>
            </a:avLst>
          </a:prstGeom>
          <a:solidFill>
            <a:srgbClr val="E9F4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6400800" y="2011680"/>
            <a:ext cx="457200" cy="457200"/>
          </a:xfrm>
          <a:prstGeom prst="ellipse">
            <a:avLst/>
          </a:prstGeom>
          <a:solidFill>
            <a:srgbClr val="00A3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64008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17647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Recência consolidada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995160" y="214884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mais recente entre NPS, NF, contrato e atendimento no Megazap.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063240"/>
            <a:ext cx="5349240" cy="1280160"/>
          </a:xfrm>
          <a:prstGeom prst="roundRect">
            <a:avLst>
              <a:gd name="adj" fmla="val 6429"/>
            </a:avLst>
          </a:prstGeom>
          <a:solidFill>
            <a:srgbClr val="E9F4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868680" y="3474720"/>
            <a:ext cx="457200" cy="457200"/>
          </a:xfrm>
          <a:prstGeom prst="ellipse">
            <a:avLst/>
          </a:prstGeom>
          <a:solidFill>
            <a:srgbClr val="00A3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86868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2278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= soma das NF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361188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valor do cliente é a soma das notas fiscais (eixo Valor do RFM).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063240"/>
            <a:ext cx="5349240" cy="1280160"/>
          </a:xfrm>
          <a:prstGeom prst="roundRect">
            <a:avLst>
              <a:gd name="adj" fmla="val 6429"/>
            </a:avLst>
          </a:prstGeom>
          <a:solidFill>
            <a:srgbClr val="E9F4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6400800" y="3474720"/>
            <a:ext cx="457200" cy="457200"/>
          </a:xfrm>
          <a:prstGeom prst="ellipse">
            <a:avLst/>
          </a:prstGeom>
          <a:solidFill>
            <a:srgbClr val="00A3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 txBox="1"/>
          <p:nvPr/>
        </p:nvSpPr>
        <p:spPr>
          <a:xfrm>
            <a:off x="640080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32278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Confiança do casamento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995160" y="361188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Exato/provável entram na fila; incerto vai para conferência humana.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526280"/>
            <a:ext cx="5349240" cy="1280160"/>
          </a:xfrm>
          <a:prstGeom prst="roundRect">
            <a:avLst>
              <a:gd name="adj" fmla="val 6429"/>
            </a:avLst>
          </a:prstGeom>
          <a:solidFill>
            <a:srgbClr val="E9F4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868680" y="4937760"/>
            <a:ext cx="457200" cy="457200"/>
          </a:xfrm>
          <a:prstGeom prst="ellipse">
            <a:avLst/>
          </a:prstGeom>
          <a:solidFill>
            <a:srgbClr val="00A3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 txBox="1"/>
          <p:nvPr/>
        </p:nvSpPr>
        <p:spPr>
          <a:xfrm>
            <a:off x="86868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463040" y="46908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casa por nome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463040" y="507492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não traz CNPJ — casa por tokens do nome/fantasia (exato ou incerto).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72200" y="4526280"/>
            <a:ext cx="5349240" cy="1280160"/>
          </a:xfrm>
          <a:prstGeom prst="roundRect">
            <a:avLst>
              <a:gd name="adj" fmla="val 6429"/>
            </a:avLst>
          </a:prstGeom>
          <a:solidFill>
            <a:srgbClr val="E9F4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6400800" y="4937760"/>
            <a:ext cx="457200" cy="457200"/>
          </a:xfrm>
          <a:prstGeom prst="ellipse">
            <a:avLst/>
          </a:prstGeom>
          <a:solidFill>
            <a:srgbClr val="00A3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 txBox="1"/>
          <p:nvPr/>
        </p:nvSpPr>
        <p:spPr>
          <a:xfrm>
            <a:off x="640080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995160" y="46908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da preventiva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995160" y="507492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coluna de visita: usa a última NF/vigência (janela de 12 meses).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549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4C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fases técnicas do produto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0A565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606040" cy="640080"/>
          </a:xfrm>
          <a:prstGeom prst="roundRect">
            <a:avLst>
              <a:gd name="adj" fmla="val 14286"/>
            </a:avLst>
          </a:prstGeom>
          <a:solidFill>
            <a:srgbClr val="24C6A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4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060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· Excel local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9184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D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fictícios, MCP via stdio no Claude Desktop. Valida o valor sem infraestrutura.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470916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24C6A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822960" y="4709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4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73552" y="3246120"/>
            <a:ext cx="256032" cy="292608"/>
          </a:xfrm>
          <a:prstGeom prst="rightArrow">
            <a:avLst/>
          </a:prstGeom>
          <a:solidFill>
            <a:srgbClr val="24C6A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3529584" y="182880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0A565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529584" y="1828800"/>
            <a:ext cx="2606040" cy="640080"/>
          </a:xfrm>
          <a:prstGeom prst="roundRect">
            <a:avLst>
              <a:gd name="adj" fmla="val 14286"/>
            </a:avLst>
          </a:prstGeom>
          <a:solidFill>
            <a:srgbClr val="00A3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3529584" y="18288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TRANSIÇÃO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712464" y="26060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Descoberta de APIs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3712464" y="329184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D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N1, Megazap e People: o que expõem e se trazem datas de interação.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63056" y="3246120"/>
            <a:ext cx="256032" cy="292608"/>
          </a:xfrm>
          <a:prstGeom prst="rightArrow">
            <a:avLst/>
          </a:prstGeom>
          <a:solidFill>
            <a:srgbClr val="24C6A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6419088" y="182880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0A565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6419088" y="1828800"/>
            <a:ext cx="2606040" cy="640080"/>
          </a:xfrm>
          <a:prstGeom prst="roundRect">
            <a:avLst>
              <a:gd name="adj" fmla="val 14286"/>
            </a:avLst>
          </a:prstGeom>
          <a:solidFill>
            <a:srgbClr val="00A3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 txBox="1"/>
          <p:nvPr/>
        </p:nvSpPr>
        <p:spPr>
          <a:xfrm>
            <a:off x="6419088" y="18288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601968" y="26060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</a:t>
            </a:r>
            <a:r>
              <a:rPr lang="en-US" sz="14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tempo real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6601968" y="329184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D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(Cliente 360) + MCP em HTTPS com OAuth/TLS. Escala para a equipe.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052560" y="3246120"/>
            <a:ext cx="256032" cy="292608"/>
          </a:xfrm>
          <a:prstGeom prst="rightArrow">
            <a:avLst/>
          </a:prstGeom>
          <a:solidFill>
            <a:srgbClr val="24C6A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9308592" y="182880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0A565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9308592" y="1828800"/>
            <a:ext cx="2606040" cy="640080"/>
          </a:xfrm>
          <a:prstGeom prst="roundRect">
            <a:avLst>
              <a:gd name="adj" fmla="val 14286"/>
            </a:avLst>
          </a:prstGeom>
          <a:solidFill>
            <a:srgbClr val="00A3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 txBox="1"/>
          <p:nvPr/>
        </p:nvSpPr>
        <p:spPr>
          <a:xfrm>
            <a:off x="9308592" y="18288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491472" y="26060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Megazap integrado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9491472" y="329184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D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Conversas chegam por API/webhook, sem export manual. Envio segue humano.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58368" y="5943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 err="1">
                <a:solidFill>
                  <a:srgbClr val="AFD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r>
              <a:rPr lang="en-US" sz="1300" i="1" dirty="0">
                <a:solidFill>
                  <a:srgbClr val="AFD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Acta Tech entre a Fase 1 e o uso de dados reais.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do projeto (extensão)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560320" cy="2743200"/>
          </a:xfrm>
          <a:prstGeom prst="roundRect">
            <a:avLst>
              <a:gd name="adj" fmla="val 3214"/>
            </a:avLst>
          </a:prstGeom>
          <a:solidFill>
            <a:srgbClr val="E1F3EC"/>
          </a:solidFill>
          <a:ln/>
          <a:effectLst>
            <a:outerShdw blurRad="76200" dist="25400" dir="5400000" algn="bl" rotWithShape="0">
              <a:srgbClr val="9BB0AE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560320" cy="566928"/>
          </a:xfrm>
          <a:prstGeom prst="roundRect">
            <a:avLst>
              <a:gd name="adj" fmla="val 14516"/>
            </a:avLst>
          </a:prstGeom>
          <a:solidFill>
            <a:srgbClr val="007B7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20/10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06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 + Agente de IA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832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Finalizar o treinamento e aperfeiçoar o agente (fontes e manuais de conduta).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18688" y="3108960"/>
            <a:ext cx="274320" cy="292608"/>
          </a:xfrm>
          <a:prstGeom prst="rightArrow">
            <a:avLst/>
          </a:prstGeom>
          <a:solidFill>
            <a:srgbClr val="24C6A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529584" y="1920240"/>
            <a:ext cx="2560320" cy="2743200"/>
          </a:xfrm>
          <a:prstGeom prst="roundRect">
            <a:avLst>
              <a:gd name="adj" fmla="val 3214"/>
            </a:avLst>
          </a:prstGeom>
          <a:solidFill>
            <a:srgbClr val="E9F4F2"/>
          </a:solidFill>
          <a:ln/>
          <a:effectLst>
            <a:outerShdw blurRad="76200" dist="25400" dir="5400000" algn="bl" rotWithShape="0">
              <a:srgbClr val="9BB0AE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3529584" y="1920240"/>
            <a:ext cx="2560320" cy="566928"/>
          </a:xfrm>
          <a:prstGeom prst="roundRect">
            <a:avLst>
              <a:gd name="adj" fmla="val 14516"/>
            </a:avLst>
          </a:prstGeom>
          <a:solidFill>
            <a:srgbClr val="00A3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3529584" y="19202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05/11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712464" y="2606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com a gestão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712464" y="33832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Apresentar material e agente em funcionamento; fazer os ajustes.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08192" y="3108960"/>
            <a:ext cx="274320" cy="292608"/>
          </a:xfrm>
          <a:prstGeom prst="rightArrow">
            <a:avLst/>
          </a:prstGeom>
          <a:solidFill>
            <a:srgbClr val="24C6A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6419088" y="1920240"/>
            <a:ext cx="2560320" cy="2743200"/>
          </a:xfrm>
          <a:prstGeom prst="roundRect">
            <a:avLst>
              <a:gd name="adj" fmla="val 3214"/>
            </a:avLst>
          </a:prstGeom>
          <a:solidFill>
            <a:srgbClr val="E9F4F2"/>
          </a:solidFill>
          <a:ln/>
          <a:effectLst>
            <a:outerShdw blurRad="76200" dist="25400" dir="5400000" algn="bl" rotWithShape="0">
              <a:srgbClr val="9BB0AE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6419088" y="1920240"/>
            <a:ext cx="2560320" cy="566928"/>
          </a:xfrm>
          <a:prstGeom prst="roundRect">
            <a:avLst>
              <a:gd name="adj" fmla="val 14516"/>
            </a:avLst>
          </a:prstGeom>
          <a:solidFill>
            <a:srgbClr val="00A3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 txBox="1"/>
          <p:nvPr/>
        </p:nvSpPr>
        <p:spPr>
          <a:xfrm>
            <a:off x="6419088" y="19202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15/11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601968" y="2606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à equipe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601968" y="33832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Capacitar os colaboradores e ensinar o uso do agente; tarefas práticas.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997696" y="3108960"/>
            <a:ext cx="274320" cy="292608"/>
          </a:xfrm>
          <a:prstGeom prst="rightArrow">
            <a:avLst/>
          </a:prstGeom>
          <a:solidFill>
            <a:srgbClr val="24C6A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9308592" y="1920240"/>
            <a:ext cx="2560320" cy="2743200"/>
          </a:xfrm>
          <a:prstGeom prst="roundRect">
            <a:avLst>
              <a:gd name="adj" fmla="val 3214"/>
            </a:avLst>
          </a:prstGeom>
          <a:solidFill>
            <a:srgbClr val="E9F4F2"/>
          </a:solidFill>
          <a:ln/>
          <a:effectLst>
            <a:outerShdw blurRad="76200" dist="25400" dir="5400000" algn="bl" rotWithShape="0">
              <a:srgbClr val="9BB0AE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9308592" y="1920240"/>
            <a:ext cx="2560320" cy="566928"/>
          </a:xfrm>
          <a:prstGeom prst="roundRect">
            <a:avLst>
              <a:gd name="adj" fmla="val 14516"/>
            </a:avLst>
          </a:prstGeom>
          <a:solidFill>
            <a:srgbClr val="00A3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 txBox="1"/>
          <p:nvPr/>
        </p:nvSpPr>
        <p:spPr>
          <a:xfrm>
            <a:off x="9308592" y="19202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15/11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491472" y="2606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491472" y="33832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 uso, conversas e resultados; ajustar materiais e agente.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" y="4937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7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Datas-alvo do projeto de extensão. O roadmap técnico (fases do produto) corre em paralelo.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POC EXCEL LOCAL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fortes e fracos — Fase 1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94960" cy="4434840"/>
          </a:xfrm>
          <a:prstGeom prst="roundRect">
            <a:avLst>
              <a:gd name="adj" fmla="val 1856"/>
            </a:avLst>
          </a:prstGeom>
          <a:solidFill>
            <a:srgbClr val="E1F3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914400" y="1874520"/>
            <a:ext cx="502920" cy="502920"/>
          </a:xfrm>
          <a:prstGeom prst="ellipse">
            <a:avLst/>
          </a:prstGeom>
          <a:solidFill>
            <a:srgbClr val="007B7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91440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90195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fortes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514600"/>
            <a:ext cx="4892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8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o valor rápido, com baixo custo e risco, numa máquina só.</a:t>
            </a:r>
            <a:endParaRPr lang="en-US" sz="128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8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exposição de rede (stdio): menor superfície de ataque.</a:t>
            </a:r>
            <a:endParaRPr lang="en-US" sz="128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8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com dados fictícios/mascarados — seguro antes da </a:t>
            </a:r>
            <a:r>
              <a:rPr lang="en-US" sz="1280" dirty="0" err="1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r>
              <a:rPr lang="en-US" sz="128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Acta Tech.</a:t>
            </a:r>
            <a:endParaRPr lang="en-US" sz="128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8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concreta que hoje não existe: fila priorizada e justificada.</a:t>
            </a:r>
            <a:endParaRPr lang="en-US" sz="128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8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do Preventivo é determinística (o backend compila, a IA formata).</a:t>
            </a:r>
            <a:endParaRPr lang="en-US" sz="128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8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já pronto para reaproveitar na Fase 2.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349240" cy="4434840"/>
          </a:xfrm>
          <a:prstGeom prst="roundRect">
            <a:avLst>
              <a:gd name="adj" fmla="val 1856"/>
            </a:avLst>
          </a:prstGeom>
          <a:solidFill>
            <a:srgbClr val="F7ECD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6446520" y="1874520"/>
            <a:ext cx="502920" cy="502920"/>
          </a:xfrm>
          <a:prstGeom prst="ellipse">
            <a:avLst/>
          </a:prstGeom>
          <a:solidFill>
            <a:srgbClr val="B970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644652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190195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fracos / limitações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514600"/>
            <a:ext cx="4892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FontTx/>
              <a:buChar char="•"/>
            </a:pPr>
            <a:r>
              <a:rPr lang="en-US" sz="1280" dirty="0" err="1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</a:t>
            </a:r>
            <a:r>
              <a:rPr lang="en-US" sz="128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dos Excel é manual (novo export → </a:t>
            </a:r>
            <a:r>
              <a:rPr lang="en-US" sz="1280" dirty="0" err="1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recarregar</a:t>
            </a:r>
            <a:r>
              <a:rPr lang="en-US" sz="128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80" dirty="0" err="1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Preventiva</a:t>
            </a:r>
            <a:r>
              <a:rPr lang="en-US" sz="128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um proxy (sem coluna real de visita).</a:t>
            </a:r>
            <a:endParaRPr lang="en-US" sz="128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80" dirty="0" err="1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Cruzamento</a:t>
            </a:r>
            <a:r>
              <a:rPr lang="en-US" sz="128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recai sobre o nome (NPS sem CNPJ): no exemplo, 7 exatos, 2 incertos, 1 sem casar.</a:t>
            </a:r>
            <a:endParaRPr lang="en-US" sz="128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8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banco de dados e roda só local — não escala para a equipe.</a:t>
            </a:r>
            <a:endParaRPr lang="en-US" sz="128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8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Limiares (24m/8m/12m) e pesos ainda provisórios.</a:t>
            </a:r>
            <a:endParaRPr lang="en-US" sz="12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DADOS AO VIVO (FUTURA)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fortes e fracos — Fase 2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94960" cy="4434840"/>
          </a:xfrm>
          <a:prstGeom prst="roundRect">
            <a:avLst>
              <a:gd name="adj" fmla="val 1856"/>
            </a:avLst>
          </a:prstGeom>
          <a:solidFill>
            <a:srgbClr val="E1F3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914400" y="1874520"/>
            <a:ext cx="502920" cy="502920"/>
          </a:xfrm>
          <a:prstGeom prst="ellipse">
            <a:avLst/>
          </a:prstGeom>
          <a:solidFill>
            <a:srgbClr val="007B7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91440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90195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fortes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514600"/>
            <a:ext cx="4892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8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ao vivo via API, consolidados em MySQL (Cliente 360 materializado).</a:t>
            </a:r>
            <a:endParaRPr lang="en-US" sz="128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8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Ingestão automática e periódica — fim do export manual.</a:t>
            </a:r>
            <a:endParaRPr lang="en-US" sz="128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8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para toda a equipe e para dados reais.</a:t>
            </a:r>
            <a:endParaRPr lang="en-US" sz="128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8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em camadas: TLS, OAuth2, gateway/firewall, IP allowlist.</a:t>
            </a:r>
            <a:endParaRPr lang="en-US" sz="128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8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Reaproveita todo o núcleo e as ferramentas da Fase 1.</a:t>
            </a:r>
            <a:endParaRPr lang="en-US" sz="128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8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 N1 tende a entregar o cliente já consolidado por CNPJ.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349240" cy="4434840"/>
          </a:xfrm>
          <a:prstGeom prst="roundRect">
            <a:avLst>
              <a:gd name="adj" fmla="val 1856"/>
            </a:avLst>
          </a:prstGeom>
          <a:solidFill>
            <a:srgbClr val="F7ECD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6446520" y="1874520"/>
            <a:ext cx="502920" cy="502920"/>
          </a:xfrm>
          <a:prstGeom prst="ellipse">
            <a:avLst/>
          </a:prstGeom>
          <a:solidFill>
            <a:srgbClr val="B970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644652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190195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fracos / limitações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514600"/>
            <a:ext cx="4892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8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esforço e risco: infraestrutura, segurança e descoberta de API.</a:t>
            </a:r>
            <a:endParaRPr lang="en-US" sz="128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8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HTTPS público obrigatório desde o dia 1.</a:t>
            </a:r>
            <a:endParaRPr lang="en-US" sz="128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8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central: as APIs podem não expor a ‘última interação’ datada.</a:t>
            </a:r>
            <a:endParaRPr lang="en-US" sz="128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8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 e responsáveis em aberto: quem hospeda, opera o gateway e o MySQL.</a:t>
            </a:r>
            <a:endParaRPr lang="en-US" sz="128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8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do cruzamento segue como o maior risco técnico.</a:t>
            </a:r>
            <a:endParaRPr lang="en-US" sz="128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8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Áudios de conversa ainda precisam de transcrição.</a:t>
            </a:r>
            <a:endParaRPr lang="en-US" sz="12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EM ABERTO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a </a:t>
            </a:r>
            <a:r>
              <a:rPr lang="en-US" sz="3200" b="1" dirty="0" err="1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447288" y="1691640"/>
            <a:ext cx="2606040" cy="1828800"/>
          </a:xfrm>
          <a:prstGeom prst="roundRect">
            <a:avLst>
              <a:gd name="adj" fmla="val 4500"/>
            </a:avLst>
          </a:prstGeom>
          <a:solidFill>
            <a:srgbClr val="E9F4F2"/>
          </a:solidFill>
          <a:ln/>
          <a:effectLst>
            <a:outerShdw blurRad="76200" dist="25400" dir="5400000" algn="bl" rotWithShape="0">
              <a:srgbClr val="9BB0AE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648456" y="1892808"/>
            <a:ext cx="411480" cy="411480"/>
          </a:xfrm>
          <a:prstGeom prst="ellipse">
            <a:avLst/>
          </a:prstGeom>
          <a:solidFill>
            <a:srgbClr val="B970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3648456" y="1892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630168" y="24048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</a:t>
            </a:r>
            <a:r>
              <a:rPr lang="en-US" sz="1300" b="1" dirty="0" err="1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cadastrados</a:t>
            </a:r>
            <a:r>
              <a:rPr lang="en-US" sz="13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incorretamente</a:t>
            </a:r>
            <a:r>
              <a:rPr lang="en-US" sz="13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</a:t>
            </a:r>
            <a:r>
              <a:rPr lang="en-US" sz="13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atendente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630168" y="284378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risco: </a:t>
            </a:r>
            <a:r>
              <a:rPr lang="en-US" sz="1100" dirty="0" err="1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</a:t>
            </a:r>
            <a:r>
              <a:rPr lang="en-US" sz="110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padronização</a:t>
            </a:r>
            <a:r>
              <a:rPr lang="en-US" sz="110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1100" dirty="0" err="1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</a:t>
            </a:r>
            <a:r>
              <a:rPr lang="en-US" sz="110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dirty="0" err="1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razão</a:t>
            </a:r>
            <a:r>
              <a:rPr lang="en-US" sz="110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social/fantasia e </a:t>
            </a:r>
            <a:r>
              <a:rPr lang="en-US" sz="1100" dirty="0" err="1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</a:t>
            </a:r>
            <a:r>
              <a:rPr lang="en-US" sz="110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</a:t>
            </a:r>
            <a:r>
              <a:rPr lang="en-US" sz="110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10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Sistema real.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1691640"/>
            <a:ext cx="2606040" cy="1828800"/>
          </a:xfrm>
          <a:prstGeom prst="roundRect">
            <a:avLst>
              <a:gd name="adj" fmla="val 4500"/>
            </a:avLst>
          </a:prstGeom>
          <a:solidFill>
            <a:srgbClr val="E9F4F2"/>
          </a:solidFill>
          <a:ln/>
          <a:effectLst>
            <a:outerShdw blurRad="76200" dist="25400" dir="5400000" algn="bl" rotWithShape="0">
              <a:srgbClr val="9BB0AE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6455664" y="1892808"/>
            <a:ext cx="411480" cy="411480"/>
          </a:xfrm>
          <a:prstGeom prst="ellipse">
            <a:avLst/>
          </a:prstGeom>
          <a:solidFill>
            <a:srgbClr val="B970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6455664" y="1892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37376" y="24048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</a:t>
            </a:r>
            <a:r>
              <a:rPr lang="en-US" sz="13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</a:t>
            </a:r>
            <a:r>
              <a:rPr lang="en-US" sz="13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Jurídico</a:t>
            </a:r>
            <a:r>
              <a:rPr lang="en-US" sz="13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Acta Tech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37376" y="284378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legítimo interesse, consentimento do NPS e DPA antes do dado real.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043416" y="1691640"/>
            <a:ext cx="2606040" cy="1828800"/>
          </a:xfrm>
          <a:prstGeom prst="roundRect">
            <a:avLst>
              <a:gd name="adj" fmla="val 4500"/>
            </a:avLst>
          </a:prstGeom>
          <a:solidFill>
            <a:srgbClr val="E9F4F2"/>
          </a:solidFill>
          <a:ln/>
          <a:effectLst>
            <a:outerShdw blurRad="76200" dist="25400" dir="5400000" algn="bl" rotWithShape="0">
              <a:srgbClr val="9BB0AE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9244584" y="1892808"/>
            <a:ext cx="411480" cy="411480"/>
          </a:xfrm>
          <a:prstGeom prst="ellipse">
            <a:avLst/>
          </a:prstGeom>
          <a:solidFill>
            <a:srgbClr val="B970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 txBox="1"/>
          <p:nvPr/>
        </p:nvSpPr>
        <p:spPr>
          <a:xfrm>
            <a:off x="9244584" y="1892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226296" y="24048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Cruzamento</a:t>
            </a:r>
            <a:r>
              <a:rPr lang="en-US" sz="13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De-para telefone→cliente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226296" y="284378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Telefone compartilhado entre empresas; </a:t>
            </a:r>
            <a:r>
              <a:rPr lang="en-US" sz="1100" dirty="0" err="1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10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Fase 2 </a:t>
            </a:r>
            <a:r>
              <a:rPr lang="en-US" sz="1100" dirty="0" err="1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precisaremos</a:t>
            </a:r>
            <a:r>
              <a:rPr lang="en-US" sz="110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</a:t>
            </a:r>
            <a:r>
              <a:rPr lang="en-US" sz="110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de-para </a:t>
            </a:r>
            <a:r>
              <a:rPr lang="en-US" sz="1100" dirty="0" err="1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versionada</a:t>
            </a:r>
            <a:r>
              <a:rPr lang="en-US" sz="110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1691640"/>
            <a:ext cx="2606040" cy="1828800"/>
          </a:xfrm>
          <a:prstGeom prst="roundRect">
            <a:avLst>
              <a:gd name="adj" fmla="val 4500"/>
            </a:avLst>
          </a:prstGeom>
          <a:solidFill>
            <a:srgbClr val="E9F4F2"/>
          </a:solidFill>
          <a:ln/>
          <a:effectLst>
            <a:outerShdw blurRad="76200" dist="25400" dir="5400000" algn="bl" rotWithShape="0">
              <a:srgbClr val="9BB0AE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841248" y="1892808"/>
            <a:ext cx="411480" cy="411480"/>
          </a:xfrm>
          <a:prstGeom prst="ellipse">
            <a:avLst/>
          </a:prstGeom>
          <a:solidFill>
            <a:srgbClr val="B970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 txBox="1"/>
          <p:nvPr/>
        </p:nvSpPr>
        <p:spPr>
          <a:xfrm>
            <a:off x="841248" y="1892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822960" y="24048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manuais na Fase 1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" y="284378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atualizado à mão (novo export → recarregar); versionamento/backup.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0080" y="3721608"/>
            <a:ext cx="2606040" cy="1828800"/>
          </a:xfrm>
          <a:prstGeom prst="roundRect">
            <a:avLst>
              <a:gd name="adj" fmla="val 4500"/>
            </a:avLst>
          </a:prstGeom>
          <a:solidFill>
            <a:srgbClr val="E9F4F2"/>
          </a:solidFill>
          <a:ln/>
          <a:effectLst>
            <a:outerShdw blurRad="76200" dist="25400" dir="5400000" algn="bl" rotWithShape="0">
              <a:srgbClr val="9BB0AE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0" name="Shape 38"/>
          <p:cNvSpPr/>
          <p:nvPr/>
        </p:nvSpPr>
        <p:spPr>
          <a:xfrm>
            <a:off x="841248" y="3922776"/>
            <a:ext cx="411480" cy="411480"/>
          </a:xfrm>
          <a:prstGeom prst="ellipse">
            <a:avLst/>
          </a:prstGeom>
          <a:solidFill>
            <a:srgbClr val="B970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 txBox="1"/>
          <p:nvPr/>
        </p:nvSpPr>
        <p:spPr>
          <a:xfrm>
            <a:off x="841248" y="39227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" y="4434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Exposição na Fase 2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" y="487375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público exige gateway/firewall + TLS + OAuth desde o 1º dia.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 a confirmar e próximos passos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Limiares atuais (calibráveis pelo comercial)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691640" cy="1371600"/>
          </a:xfrm>
          <a:prstGeom prst="roundRect">
            <a:avLst>
              <a:gd name="adj" fmla="val 6000"/>
            </a:avLst>
          </a:prstGeom>
          <a:solidFill>
            <a:srgbClr val="E9F4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7B77"/>
                </a:solidFill>
                <a:latin typeface="Calibri" pitchFamily="34" charset="0"/>
                <a:cs typeface="Calibri" pitchFamily="34" charset="-120"/>
              </a:rPr>
              <a:t>13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971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Antiguidade mínima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68880" y="2011680"/>
            <a:ext cx="1691640" cy="1371600"/>
          </a:xfrm>
          <a:prstGeom prst="roundRect">
            <a:avLst>
              <a:gd name="adj" fmla="val 6000"/>
            </a:avLst>
          </a:prstGeom>
          <a:solidFill>
            <a:srgbClr val="E9F4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2468880" y="21031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7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2468880" y="26974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423160" y="2971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contato (inatividade)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97680" y="2011680"/>
            <a:ext cx="1691640" cy="1371600"/>
          </a:xfrm>
          <a:prstGeom prst="roundRect">
            <a:avLst>
              <a:gd name="adj" fmla="val 6000"/>
            </a:avLst>
          </a:prstGeom>
          <a:solidFill>
            <a:srgbClr val="E9F4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4297680" y="21031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7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4297680" y="26974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251960" y="2971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 da </a:t>
            </a:r>
            <a:r>
              <a:rPr lang="en-US" sz="1050" dirty="0" err="1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manutenção</a:t>
            </a:r>
            <a:r>
              <a:rPr lang="en-US" sz="105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72200" y="201168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E1F3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 txBox="1"/>
          <p:nvPr/>
        </p:nvSpPr>
        <p:spPr>
          <a:xfrm>
            <a:off x="6400800" y="21214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do RFM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254203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Recência 0,4</a:t>
            </a:r>
            <a:r>
              <a:rPr lang="en-US" sz="150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500" b="1" dirty="0" err="1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Antiguidade</a:t>
            </a:r>
            <a:r>
              <a:rPr lang="en-US" sz="15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0,2</a:t>
            </a:r>
            <a:r>
              <a:rPr lang="en-US" sz="1500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500" b="1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0,4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2971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confirmar: peso valor × recência, limite de frequência e os segmentos.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3657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069080"/>
            <a:ext cx="10698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 err="1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Passar</a:t>
            </a:r>
            <a:r>
              <a:rPr lang="en-US" sz="135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pela </a:t>
            </a:r>
            <a:r>
              <a:rPr lang="en-US" sz="1350" dirty="0" err="1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r>
              <a:rPr lang="en-US" sz="135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Acta Tech: validar a matriz de dados e formalizar a base legal.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 confirma os limiares, os pesos e o limite de frequência de contato.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o dono do conector no Claude (plano Team/Enterprise) e quem mantém a wiki.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com a gestão (até 05/11) e aplicar o treinamento à equipe (até 15/11).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7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a descoberta das APIs (N1, Megazap, People) para preparar a Fase 2.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549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474720"/>
            <a:ext cx="5120640" cy="5120640"/>
          </a:xfrm>
          <a:prstGeom prst="ellipse">
            <a:avLst/>
          </a:prstGeom>
          <a:solidFill>
            <a:srgbClr val="073E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601200" y="-2194560"/>
            <a:ext cx="4937760" cy="4937760"/>
          </a:xfrm>
          <a:prstGeom prst="ellipse">
            <a:avLst/>
          </a:prstGeom>
          <a:solidFill>
            <a:srgbClr val="0A565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64008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4C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MILLENIUM TECNOLOGIA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3774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copiloto para o atendimento —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humano sempre no comando.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4023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D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passo: </a:t>
            </a:r>
            <a:r>
              <a:rPr lang="en-US" sz="1700" dirty="0" err="1">
                <a:solidFill>
                  <a:srgbClr val="CD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</a:t>
            </a:r>
            <a:r>
              <a:rPr lang="en-US" sz="1700" dirty="0">
                <a:solidFill>
                  <a:srgbClr val="CD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CD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</a:t>
            </a:r>
            <a:r>
              <a:rPr lang="en-US" sz="1700" dirty="0">
                <a:solidFill>
                  <a:srgbClr val="CD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Acta Tech e rodar o piloto.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85800" y="4617720"/>
            <a:ext cx="2011680" cy="0"/>
          </a:xfrm>
          <a:prstGeom prst="line">
            <a:avLst/>
          </a:prstGeom>
          <a:noFill/>
          <a:ln w="31750">
            <a:solidFill>
              <a:srgbClr val="24C6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658368" y="4846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2640</Words>
  <Application>Microsoft Office PowerPoint</Application>
  <PresentationFormat>Widescreen</PresentationFormat>
  <Paragraphs>387</Paragraphs>
  <Slides>22</Slides>
  <Notes>22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Millenium Tecnologia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Millenium</dc:creator>
  <cp:lastModifiedBy>Igor Campos de Borba</cp:lastModifiedBy>
  <cp:revision>3</cp:revision>
  <dcterms:created xsi:type="dcterms:W3CDTF">2026-10-21T18:01:53Z</dcterms:created>
  <dcterms:modified xsi:type="dcterms:W3CDTF">2026-10-21T18:29:02Z</dcterms:modified>
</cp:coreProperties>
</file>